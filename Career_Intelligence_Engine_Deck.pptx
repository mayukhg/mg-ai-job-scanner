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8" d="100"/>
          <a:sy n="98" d="100"/>
        </p:scale>
        <p:origin x="360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yukh Ghosh" userId="e5ed4935-a7ce-480a-984f-d2917d127464" providerId="ADAL" clId="{B4B003DF-4950-42C8-BA2B-4A298416261F}"/>
    <pc:docChg chg="modSld">
      <pc:chgData name="Mayukh Ghosh" userId="e5ed4935-a7ce-480a-984f-d2917d127464" providerId="ADAL" clId="{B4B003DF-4950-42C8-BA2B-4A298416261F}" dt="2026-05-20T10:54:15.415" v="15" actId="20577"/>
      <pc:docMkLst>
        <pc:docMk/>
      </pc:docMkLst>
      <pc:sldChg chg="modSp mod">
        <pc:chgData name="Mayukh Ghosh" userId="e5ed4935-a7ce-480a-984f-d2917d127464" providerId="ADAL" clId="{B4B003DF-4950-42C8-BA2B-4A298416261F}" dt="2026-05-20T10:54:15.415" v="15" actId="20577"/>
        <pc:sldMkLst>
          <pc:docMk/>
          <pc:sldMk cId="0" sldId="256"/>
        </pc:sldMkLst>
        <pc:spChg chg="mod">
          <ac:chgData name="Mayukh Ghosh" userId="e5ed4935-a7ce-480a-984f-d2917d127464" providerId="ADAL" clId="{B4B003DF-4950-42C8-BA2B-4A298416261F}" dt="2026-05-20T10:54:15.415" v="15" actId="20577"/>
          <ac:spMkLst>
            <pc:docMk/>
            <pc:sldMk cId="0" sldId="256"/>
            <ac:spMk id="7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693807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6.png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57200" y="4023360"/>
            <a:ext cx="2743200" cy="36576"/>
          </a:xfrm>
          <a:prstGeom prst="rect">
            <a:avLst/>
          </a:prstGeom>
          <a:solidFill>
            <a:srgbClr val="00D4AA">
              <a:alpha val="60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731520"/>
            <a:ext cx="594360" cy="5943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1463040"/>
            <a:ext cx="6400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Career</a:t>
            </a:r>
            <a:endParaRPr lang="en-US" sz="38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Intelligence Engine</a:t>
            </a:r>
            <a:endParaRPr lang="en-US" sz="3800" dirty="0"/>
          </a:p>
        </p:txBody>
      </p:sp>
      <p:sp>
        <p:nvSpPr>
          <p:cNvPr id="6" name="Text 3"/>
          <p:cNvSpPr/>
          <p:nvPr/>
        </p:nvSpPr>
        <p:spPr>
          <a:xfrm>
            <a:off x="548640" y="310896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Serverless Multi-Agent Ecosystem</a:t>
            </a:r>
            <a:endParaRPr lang="en-US" sz="16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Active Career Optimization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548640" y="42062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Mayukh  Ghosh |  </a:t>
            </a:r>
            <a:r>
              <a:rPr lang="en-US" sz="130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Product Manager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Problem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standard job-hunting workflow is fundamentally broken for high-stakes AI roles.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8046720" cy="914400"/>
          </a:xfrm>
          <a:prstGeom prst="rect">
            <a:avLst/>
          </a:prstGeom>
          <a:solidFill>
            <a:srgbClr val="21262D"/>
          </a:solidFill>
          <a:ln/>
          <a:effectLst>
            <a:outerShdw blurRad="1016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755648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63040" y="1627632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Friction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463040" y="196596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boards change daily. ATS scanners filter resumes lacking precise weekly keyword alignments. Static applications fail silently.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48640" y="2651760"/>
            <a:ext cx="8046720" cy="914400"/>
          </a:xfrm>
          <a:prstGeom prst="rect">
            <a:avLst/>
          </a:prstGeom>
          <a:solidFill>
            <a:srgbClr val="21262D"/>
          </a:solidFill>
          <a:ln/>
          <a:effectLst>
            <a:outerShdw blurRad="1016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2852928"/>
            <a:ext cx="457200" cy="4572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463040" y="2724912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Drift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1463040" y="306324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State-of-the-art in AI agents evolves weekly. Custom orchestrators give way to hierarchical swarms, SQLite sync containers, and new patterns overnight.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548640" y="3749040"/>
            <a:ext cx="8046720" cy="914400"/>
          </a:xfrm>
          <a:prstGeom prst="rect">
            <a:avLst/>
          </a:prstGeom>
          <a:solidFill>
            <a:srgbClr val="21262D"/>
          </a:solidFill>
          <a:ln/>
          <a:effectLst>
            <a:outerShdw blurRad="1016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3950208"/>
            <a:ext cx="457200" cy="45720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463040" y="3822192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Gap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1463040" y="416052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Recruiters demand visible, recent proof-of-work. Talking about skills is insufficient—candidates must demonstrate the very technology they claim to build.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Solution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autonomous multi-agent serverless ecosystem that closes the entire career optimization loop.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57784" y="1600200"/>
            <a:ext cx="1371600" cy="1737360"/>
          </a:xfrm>
          <a:prstGeom prst="rect">
            <a:avLst/>
          </a:prstGeom>
          <a:solidFill>
            <a:srgbClr val="21262D"/>
          </a:solidFill>
          <a:ln/>
          <a:effectLst>
            <a:outerShdw blurRad="1016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037844" y="1783080"/>
            <a:ext cx="411480" cy="411480"/>
          </a:xfrm>
          <a:prstGeom prst="ellipse">
            <a:avLst/>
          </a:prstGeom>
          <a:solidFill>
            <a:srgbClr val="00D4A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037844" y="17830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57784" y="23317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9224" y="265176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boards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stealth ATS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221992" y="1600200"/>
            <a:ext cx="1371600" cy="1737360"/>
          </a:xfrm>
          <a:prstGeom prst="rect">
            <a:avLst/>
          </a:prstGeom>
          <a:solidFill>
            <a:srgbClr val="21262D"/>
          </a:solidFill>
          <a:ln/>
          <a:effectLst>
            <a:outerShdw blurRad="1016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702052" y="1783080"/>
            <a:ext cx="411480" cy="411480"/>
          </a:xfrm>
          <a:prstGeom prst="ellipse">
            <a:avLst/>
          </a:prstGeom>
          <a:solidFill>
            <a:srgbClr val="00D4A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702052" y="17830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221992" y="23317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313432" y="265176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Frequency-weighted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 extraction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886200" y="1600200"/>
            <a:ext cx="1371600" cy="1737360"/>
          </a:xfrm>
          <a:prstGeom prst="rect">
            <a:avLst/>
          </a:prstGeom>
          <a:solidFill>
            <a:srgbClr val="21262D"/>
          </a:solidFill>
          <a:ln/>
          <a:effectLst>
            <a:outerShdw blurRad="1016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366260" y="1783080"/>
            <a:ext cx="411480" cy="411480"/>
          </a:xfrm>
          <a:prstGeom prst="ellipse">
            <a:avLst/>
          </a:prstGeom>
          <a:solidFill>
            <a:srgbClr val="00D4A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366260" y="17830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886200" y="23317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977640" y="265176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In-place resume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XML editing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550408" y="1600200"/>
            <a:ext cx="1371600" cy="1737360"/>
          </a:xfrm>
          <a:prstGeom prst="rect">
            <a:avLst/>
          </a:prstGeom>
          <a:solidFill>
            <a:srgbClr val="21262D"/>
          </a:solidFill>
          <a:ln/>
          <a:effectLst>
            <a:outerShdw blurRad="1016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6030468" y="1783080"/>
            <a:ext cx="411480" cy="411480"/>
          </a:xfrm>
          <a:prstGeom prst="ellipse">
            <a:avLst/>
          </a:prstGeom>
          <a:solidFill>
            <a:srgbClr val="00D4A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030468" y="17830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550408" y="23317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Upskill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641848" y="265176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Multi-modal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hubs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214616" y="1600200"/>
            <a:ext cx="1371600" cy="1737360"/>
          </a:xfrm>
          <a:prstGeom prst="rect">
            <a:avLst/>
          </a:prstGeom>
          <a:solidFill>
            <a:srgbClr val="21262D"/>
          </a:solidFill>
          <a:ln/>
          <a:effectLst>
            <a:outerShdw blurRad="1016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7694676" y="1783080"/>
            <a:ext cx="411480" cy="411480"/>
          </a:xfrm>
          <a:prstGeom prst="ellipse">
            <a:avLst/>
          </a:prstGeom>
          <a:solidFill>
            <a:srgbClr val="00D4A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7694676" y="17830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7214616" y="23317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7306056" y="265176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Auto-scaffolded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repos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48640" y="3749040"/>
            <a:ext cx="8046720" cy="1005840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548640" y="374904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D4AA"/>
                </a:solidFill>
              </a:rPr>
              <a:t>$0 </a:t>
            </a:r>
            <a:r>
              <a:rPr lang="en-US" sz="1400" dirty="0">
                <a:solidFill>
                  <a:srgbClr val="8B949E"/>
                </a:solidFill>
              </a:rPr>
              <a:t>operational cost  </a:t>
            </a:r>
            <a:r>
              <a:rPr lang="en-US" sz="1400" dirty="0">
                <a:solidFill>
                  <a:srgbClr val="30363D"/>
                </a:solidFill>
              </a:rPr>
              <a:t>   |   </a:t>
            </a:r>
            <a:r>
              <a:rPr lang="en-US" sz="2800" b="1" dirty="0">
                <a:solidFill>
                  <a:srgbClr val="00D4AA"/>
                </a:solidFill>
              </a:rPr>
              <a:t>100% </a:t>
            </a:r>
            <a:r>
              <a:rPr lang="en-US" sz="1400" dirty="0">
                <a:solidFill>
                  <a:srgbClr val="8B949E"/>
                </a:solidFill>
              </a:rPr>
              <a:t>cloud uptime  </a:t>
            </a:r>
            <a:r>
              <a:rPr lang="en-US" sz="1400" dirty="0">
                <a:solidFill>
                  <a:srgbClr val="30363D"/>
                </a:solidFill>
              </a:rPr>
              <a:t>   |   </a:t>
            </a:r>
            <a:r>
              <a:rPr lang="en-US" sz="2800" b="1" dirty="0">
                <a:solidFill>
                  <a:srgbClr val="00D4AA"/>
                </a:solidFill>
              </a:rPr>
              <a:t>5 </a:t>
            </a:r>
            <a:r>
              <a:rPr lang="en-US" sz="1400" dirty="0">
                <a:solidFill>
                  <a:srgbClr val="8B949E"/>
                </a:solidFill>
              </a:rPr>
              <a:t>autonomous agents</a:t>
            </a:r>
            <a:endParaRPr lang="en-US" sz="2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5 Core Agents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005840"/>
            <a:ext cx="8046720" cy="658368"/>
          </a:xfrm>
          <a:prstGeom prst="rect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48640" y="1005840"/>
            <a:ext cx="54864" cy="658368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115568"/>
            <a:ext cx="411480" cy="411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17320" y="104241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Scanner &amp; Resume Tuner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417320" y="1298448"/>
            <a:ext cx="6949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Aggregates postings via managed crawlers, extracts frequency-weighted themes, updates resume in-place preserving typography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48640" y="1783080"/>
            <a:ext cx="8046720" cy="658368"/>
          </a:xfrm>
          <a:prstGeom prst="rect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548640" y="1783080"/>
            <a:ext cx="54864" cy="658368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1892808"/>
            <a:ext cx="411480" cy="4114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417320" y="181965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Opportunity Watchdog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1417320" y="2075688"/>
            <a:ext cx="6949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Bypasses aggregators to parse Greenhouse &amp; Lever ATS endpoints of target companies, flagging stealth postings instantly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548640" y="2560320"/>
            <a:ext cx="8046720" cy="658368"/>
          </a:xfrm>
          <a:prstGeom prst="rect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548640" y="2560320"/>
            <a:ext cx="54864" cy="658368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2670048"/>
            <a:ext cx="411480" cy="41148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417320" y="259689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Tutor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1417320" y="2852928"/>
            <a:ext cx="6949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Evaluates trending skills, retrieves arXiv papers &amp; GitHub repos, creates NotebookLM workspaces, generates audio podcasts &amp; study plans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548640" y="3337560"/>
            <a:ext cx="8046720" cy="658368"/>
          </a:xfrm>
          <a:prstGeom prst="rect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5"/>
          <p:cNvSpPr/>
          <p:nvPr/>
        </p:nvSpPr>
        <p:spPr>
          <a:xfrm>
            <a:off x="548640" y="3337560"/>
            <a:ext cx="54864" cy="658368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" y="3447288"/>
            <a:ext cx="411480" cy="41148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417320" y="337413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 Interviewer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1417320" y="3630168"/>
            <a:ext cx="6949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Designs situational, coding &amp; system-architecture questions, executes dry runs, logs scorecards with readiness ratings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548640" y="4114800"/>
            <a:ext cx="8046720" cy="658368"/>
          </a:xfrm>
          <a:prstGeom prst="rect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19"/>
          <p:cNvSpPr/>
          <p:nvPr/>
        </p:nvSpPr>
        <p:spPr>
          <a:xfrm>
            <a:off x="548640" y="4114800"/>
            <a:ext cx="54864" cy="658368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960" y="4224528"/>
            <a:ext cx="411480" cy="41148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417320" y="415137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Architect</a:t>
            </a:r>
            <a:endParaRPr lang="en-US" sz="1300" dirty="0"/>
          </a:p>
        </p:txBody>
      </p:sp>
      <p:sp>
        <p:nvSpPr>
          <p:cNvPr id="28" name="Text 21"/>
          <p:cNvSpPr/>
          <p:nvPr/>
        </p:nvSpPr>
        <p:spPr>
          <a:xfrm>
            <a:off x="1417320" y="4407408"/>
            <a:ext cx="6949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Scaffolds proof-of-work repos with READMEs, tests, CI pipelines, and publishes directly to GitHub as visible expertise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Architecture: The Hybrid Cloud Orchestrator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8046720" cy="594360"/>
          </a:xfrm>
          <a:prstGeom prst="rect">
            <a:avLst/>
          </a:prstGeom>
          <a:solidFill>
            <a:srgbClr val="1E2761"/>
          </a:solidFill>
          <a:ln/>
          <a:effectLst>
            <a:outerShdw blurRad="1016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22960" y="115214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Scheduling Layer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1408176"/>
            <a:ext cx="7498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Cron  |  100% Cloud Uptime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828800"/>
            <a:ext cx="8046720" cy="594360"/>
          </a:xfrm>
          <a:prstGeom prst="rect">
            <a:avLst/>
          </a:prstGeom>
          <a:solidFill>
            <a:srgbClr val="1A3A5C"/>
          </a:solidFill>
          <a:ln/>
          <a:effectLst>
            <a:outerShdw blurRad="1016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22960" y="188366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 Layer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2139696"/>
            <a:ext cx="7498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Config-Driven Python Engine  |  Model Factory (Claude / Gemini)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2560320"/>
            <a:ext cx="8046720" cy="594360"/>
          </a:xfrm>
          <a:prstGeom prst="rect">
            <a:avLst/>
          </a:prstGeom>
          <a:solidFill>
            <a:srgbClr val="1D4D6E"/>
          </a:solidFill>
          <a:ln/>
          <a:effectLst>
            <a:outerShdw blurRad="1016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22960" y="261518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Ingestion Layer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22960" y="2871216"/>
            <a:ext cx="7498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Apify Managed Scrapers  |  Rotating Proxies  |  OAuth Helpers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3291840"/>
            <a:ext cx="8046720" cy="594360"/>
          </a:xfrm>
          <a:prstGeom prst="rect">
            <a:avLst/>
          </a:prstGeom>
          <a:solidFill>
            <a:srgbClr val="1F5F80"/>
          </a:solidFill>
          <a:ln/>
          <a:effectLst>
            <a:outerShdw blurRad="1016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822960" y="334670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Persistence Layer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22960" y="3602736"/>
            <a:ext cx="7498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(themes.db)  |  Dropbox Round-Trip Sync  |  Historical State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4023360"/>
            <a:ext cx="8046720" cy="594360"/>
          </a:xfrm>
          <a:prstGeom prst="rect">
            <a:avLst/>
          </a:prstGeom>
          <a:solidFill>
            <a:srgbClr val="217292"/>
          </a:solidFill>
          <a:ln/>
          <a:effectLst>
            <a:outerShdw blurRad="1016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22960" y="407822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Layer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22960" y="4334256"/>
            <a:ext cx="7498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XML Resume Injection  |  GitHub Repo Scaffolding  |  Email Reports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Engineering Trade-Off Matrix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Quantified comparison across three architectural options evaluated during design.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8046720" cy="91440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00D4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Vector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00D4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 SDK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00D4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OpenClaw Local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4ADE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 Engine ✓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0F6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Execution Reliability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6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0F6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Moderate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6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0F6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6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4ADE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3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0F6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Scraping Viability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0F6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0F6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4ADE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3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0F6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Flexibility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6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0F6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6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0F6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Moderate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6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4ADE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3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0F6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Deliverable Fidelity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0F6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0F6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4ADE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3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0F6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 Persistence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6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0F6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6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0F6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6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4ADE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3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0F6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Infrastructure Cost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0F6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0F6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4ADE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Tier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3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Closed-Loop Upskilling Engine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3886200" cy="1691640"/>
          </a:xfrm>
          <a:prstGeom prst="rect">
            <a:avLst/>
          </a:prstGeom>
          <a:solidFill>
            <a:srgbClr val="21262D"/>
          </a:solidFill>
          <a:ln/>
          <a:effectLst>
            <a:outerShdw blurRad="1016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325880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80160" y="128016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Relational Trend Persistence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77240" y="173736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tables capture historical state across trending topics, notebooks, opportunities, interviews, and portfolio projects for longitudinal analytics.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4709160" y="1097280"/>
            <a:ext cx="3886200" cy="1691640"/>
          </a:xfrm>
          <a:prstGeom prst="rect">
            <a:avLst/>
          </a:prstGeom>
          <a:solidFill>
            <a:srgbClr val="21262D"/>
          </a:solidFill>
          <a:ln/>
          <a:effectLst>
            <a:outerShdw blurRad="1016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1325880"/>
            <a:ext cx="365760" cy="3657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440680" y="128016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Intelligent Deduplication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4937760" y="173736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key normalization prevents redundant API calls. Agents query SQLite registers before executing expensive integrations, protecting token budgets.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548640" y="2971800"/>
            <a:ext cx="3886200" cy="1691640"/>
          </a:xfrm>
          <a:prstGeom prst="rect">
            <a:avLst/>
          </a:prstGeom>
          <a:solidFill>
            <a:srgbClr val="21262D"/>
          </a:solidFill>
          <a:ln/>
          <a:effectLst>
            <a:outerShdw blurRad="1016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3200400"/>
            <a:ext cx="365760" cy="36576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280160" y="31546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Multi-Source Learning Hub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777240" y="361188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arXiv papers + GitHub repos compiled into NotebookLM workspaces. Generates audio podcasts, visual mindmaps, and structured weekly study plans.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4709160" y="2971800"/>
            <a:ext cx="3886200" cy="1691640"/>
          </a:xfrm>
          <a:prstGeom prst="rect">
            <a:avLst/>
          </a:prstGeom>
          <a:solidFill>
            <a:srgbClr val="21262D"/>
          </a:solidFill>
          <a:ln/>
          <a:effectLst>
            <a:outerShdw blurRad="1016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200400"/>
            <a:ext cx="365760" cy="36576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440680" y="31546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Proof-of-Work Scaffolding</a:t>
            </a:r>
            <a:endParaRPr lang="en-US" sz="1300" dirty="0"/>
          </a:p>
        </p:txBody>
      </p:sp>
      <p:sp>
        <p:nvSpPr>
          <p:cNvPr id="19" name="Text 13"/>
          <p:cNvSpPr/>
          <p:nvPr/>
        </p:nvSpPr>
        <p:spPr>
          <a:xfrm>
            <a:off x="4937760" y="361188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Auto-generates project repos with source code, unit tests, GitHub Actions CI, premium READMEs, and commits directly to GitHub as visible expertise.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Agentic AI PM Competency Map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project maps to the core competencies expected of an Agentic AI Product Manager.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325880"/>
            <a:ext cx="6949440" cy="749808"/>
          </a:xfrm>
          <a:prstGeom prst="rect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48640" y="1325880"/>
            <a:ext cx="54864" cy="749808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22960" y="138074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Fluency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1655064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OAuth2 token-refresh cycles, SQL relational design, GitHub Actions CI injection, XML document tree parsing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7680960" y="1325880"/>
            <a:ext cx="914400" cy="749808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680960" y="138074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D4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6+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7680960" y="176479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APIs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48640" y="2221992"/>
            <a:ext cx="6949440" cy="749808"/>
          </a:xfrm>
          <a:prstGeom prst="rect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548640" y="2221992"/>
            <a:ext cx="54864" cy="749808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822960" y="22768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Design &amp; Orchestration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22960" y="2551176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Multi-stage pipeline (Ingest → Analyze → Generate → Deliver), error handling, failover mocks, config-driven model factory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680960" y="2221992"/>
            <a:ext cx="914400" cy="749808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680960" y="2276856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D4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680960" y="2660904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pipeline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48640" y="3118104"/>
            <a:ext cx="6949440" cy="749808"/>
          </a:xfrm>
          <a:prstGeom prst="rect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548640" y="3118104"/>
            <a:ext cx="54864" cy="749808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822960" y="317296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Savviness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22960" y="34472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Free-tier integrations (Apify, Dropbox, GHA, Google AI Studio) delivering production-grade output at zero operational cost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7680960" y="3118104"/>
            <a:ext cx="914400" cy="749808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7680960" y="317296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D4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$0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7680960" y="3557016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 cost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48640" y="4014216"/>
            <a:ext cx="6949440" cy="749808"/>
          </a:xfrm>
          <a:prstGeom prst="rect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548640" y="4014216"/>
            <a:ext cx="54864" cy="749808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822960" y="406908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Vision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22960" y="43434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Self-improvement loop using NotebookLM, automated GitHub scaffolding, adaptive interview coaching, and real-time skill-gap analysis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7680960" y="4014216"/>
            <a:ext cx="914400" cy="749808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7680960" y="40690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D4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∞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7680960" y="445312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loop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is not a side project.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0D4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is the product itself.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2423160"/>
            <a:ext cx="2286000" cy="36576"/>
          </a:xfrm>
          <a:prstGeom prst="rect">
            <a:avLst/>
          </a:prstGeom>
          <a:solidFill>
            <a:srgbClr val="3036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269748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Agentic AI Product Manager who builds a multi-agent career optimization engine isn't just telling you about agentic systems—they're shipping one.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3703320"/>
            <a:ext cx="2560320" cy="1097280"/>
          </a:xfrm>
          <a:prstGeom prst="rect">
            <a:avLst/>
          </a:prstGeom>
          <a:solidFill>
            <a:srgbClr val="21262D"/>
          </a:solidFill>
          <a:ln/>
          <a:effectLst>
            <a:outerShdw blurRad="1016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31520" y="379476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D4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731520" y="41148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Depth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43891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Production-grade multi-agent orchestration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383280" y="3703320"/>
            <a:ext cx="2560320" cy="1097280"/>
          </a:xfrm>
          <a:prstGeom prst="rect">
            <a:avLst/>
          </a:prstGeom>
          <a:solidFill>
            <a:srgbClr val="21262D"/>
          </a:solidFill>
          <a:ln/>
          <a:effectLst>
            <a:outerShdw blurRad="1016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566160" y="379476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D4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566160" y="41148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Judgment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566160" y="43891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 cost, free-tier infrastructure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217920" y="3703320"/>
            <a:ext cx="2560320" cy="1097280"/>
          </a:xfrm>
          <a:prstGeom prst="rect">
            <a:avLst/>
          </a:prstGeom>
          <a:solidFill>
            <a:srgbClr val="21262D"/>
          </a:solidFill>
          <a:ln/>
          <a:effectLst>
            <a:outerShdw blurRad="101600" dist="381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400800" y="379476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D4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400800" y="41148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Pragmatism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0" y="43891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Ships real value, not prototypes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682</Words>
  <Application>Microsoft Office PowerPoint</Application>
  <PresentationFormat>On-screen Show (16:9)</PresentationFormat>
  <Paragraphs>136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Career Intelligence Engine – Agentic AI PM Portfolio</dc:title>
  <dc:subject>PptxGenJS Presentation</dc:subject>
  <dc:creator>Mayukh</dc:creator>
  <cp:lastModifiedBy>Mayukh Ghosh</cp:lastModifiedBy>
  <cp:revision>1</cp:revision>
  <dcterms:created xsi:type="dcterms:W3CDTF">2026-05-20T10:50:52Z</dcterms:created>
  <dcterms:modified xsi:type="dcterms:W3CDTF">2026-05-20T10:54:16Z</dcterms:modified>
</cp:coreProperties>
</file>