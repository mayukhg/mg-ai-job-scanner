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4023360"/>
            <a:ext cx="2743200" cy="36576"/>
          </a:xfrm>
          <a:prstGeom prst="rect">
            <a:avLst/>
          </a:prstGeom>
          <a:solidFill>
            <a:srgbClr val="00D4AA">
              <a:alpha val="60000"/>
            </a:srgbClr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731520"/>
            <a:ext cx="594360" cy="5943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1463040"/>
            <a:ext cx="64008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Career</a:t>
            </a:r>
            <a:endParaRPr lang="en-US" sz="38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Intelligence Engine</a:t>
            </a:r>
            <a:endParaRPr lang="en-US" sz="3800" dirty="0"/>
          </a:p>
        </p:txBody>
      </p:sp>
      <p:sp>
        <p:nvSpPr>
          <p:cNvPr id="6" name="Text 3"/>
          <p:cNvSpPr/>
          <p:nvPr/>
        </p:nvSpPr>
        <p:spPr>
          <a:xfrm>
            <a:off x="548640" y="3108960"/>
            <a:ext cx="6400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Serverless Multi-Agent Ecosystem</a:t>
            </a:r>
            <a:endParaRPr lang="en-US" sz="16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Active Career Optimization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548640" y="42062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Mayukh  |  Agentic AI Product Manager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2004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Problem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standard job-hunting workflow is fundamentally broken for high-stakes AI roles.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8046720" cy="914400"/>
          </a:xfrm>
          <a:prstGeom prst="rect">
            <a:avLst/>
          </a:prstGeom>
          <a:solidFill>
            <a:srgbClr val="21262D"/>
          </a:solidFill>
          <a:ln/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755648"/>
            <a:ext cx="457200" cy="4572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63040" y="1627632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Friction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1463040" y="1965960"/>
            <a:ext cx="6858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 boards change daily. ATS scanners filter resumes lacking precise weekly keyword alignments. Static applications fail silently.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548640" y="2651760"/>
            <a:ext cx="8046720" cy="914400"/>
          </a:xfrm>
          <a:prstGeom prst="rect">
            <a:avLst/>
          </a:prstGeom>
          <a:solidFill>
            <a:srgbClr val="21262D"/>
          </a:solidFill>
          <a:ln/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2852928"/>
            <a:ext cx="457200" cy="45720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463040" y="2724912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 Drift</a:t>
            </a:r>
            <a:endParaRPr lang="en-US" sz="1500" dirty="0"/>
          </a:p>
        </p:txBody>
      </p:sp>
      <p:sp>
        <p:nvSpPr>
          <p:cNvPr id="12" name="Text 8"/>
          <p:cNvSpPr/>
          <p:nvPr/>
        </p:nvSpPr>
        <p:spPr>
          <a:xfrm>
            <a:off x="1463040" y="3063240"/>
            <a:ext cx="6858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State-of-the-art in AI agents evolves weekly. Custom orchestrators give way to hierarchical swarms, SQLite sync containers, and new patterns overnight.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548640" y="3749040"/>
            <a:ext cx="8046720" cy="914400"/>
          </a:xfrm>
          <a:prstGeom prst="rect">
            <a:avLst/>
          </a:prstGeom>
          <a:solidFill>
            <a:srgbClr val="21262D"/>
          </a:solidFill>
          <a:ln/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3950208"/>
            <a:ext cx="457200" cy="45720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463040" y="3822192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Proof Gap</a:t>
            </a:r>
            <a:endParaRPr lang="en-US" sz="1500" dirty="0"/>
          </a:p>
        </p:txBody>
      </p:sp>
      <p:sp>
        <p:nvSpPr>
          <p:cNvPr id="16" name="Text 11"/>
          <p:cNvSpPr/>
          <p:nvPr/>
        </p:nvSpPr>
        <p:spPr>
          <a:xfrm>
            <a:off x="1463040" y="4160520"/>
            <a:ext cx="6858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Recruiters demand visible, recent proof-of-work. Talking about skills is insufficient—candidates must demonstrate the very technology they claim to build.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2004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Solution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autonomous multi-agent serverless ecosystem that closes the entire career optimization loop.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57784" y="1600200"/>
            <a:ext cx="1371600" cy="1737360"/>
          </a:xfrm>
          <a:prstGeom prst="rect">
            <a:avLst/>
          </a:prstGeom>
          <a:solidFill>
            <a:srgbClr val="21262D"/>
          </a:solidFill>
          <a:ln/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037844" y="1783080"/>
            <a:ext cx="411480" cy="411480"/>
          </a:xfrm>
          <a:prstGeom prst="ellipse">
            <a:avLst/>
          </a:prstGeom>
          <a:solidFill>
            <a:srgbClr val="00D4AA"/>
          </a:solidFill>
          <a:ln/>
        </p:spPr>
      </p:sp>
      <p:sp>
        <p:nvSpPr>
          <p:cNvPr id="7" name="Text 5"/>
          <p:cNvSpPr/>
          <p:nvPr/>
        </p:nvSpPr>
        <p:spPr>
          <a:xfrm>
            <a:off x="1037844" y="17830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57784" y="233172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9224" y="2651760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 boards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stealth ATS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221992" y="1600200"/>
            <a:ext cx="1371600" cy="1737360"/>
          </a:xfrm>
          <a:prstGeom prst="rect">
            <a:avLst/>
          </a:prstGeom>
          <a:solidFill>
            <a:srgbClr val="21262D"/>
          </a:solidFill>
          <a:ln/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702052" y="1783080"/>
            <a:ext cx="411480" cy="411480"/>
          </a:xfrm>
          <a:prstGeom prst="ellipse">
            <a:avLst/>
          </a:prstGeom>
          <a:solidFill>
            <a:srgbClr val="00D4AA"/>
          </a:solidFill>
          <a:ln/>
        </p:spPr>
      </p:sp>
      <p:sp>
        <p:nvSpPr>
          <p:cNvPr id="12" name="Text 10"/>
          <p:cNvSpPr/>
          <p:nvPr/>
        </p:nvSpPr>
        <p:spPr>
          <a:xfrm>
            <a:off x="2702052" y="17830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2221992" y="233172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2313432" y="2651760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Frequency-weighted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theme extraction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886200" y="1600200"/>
            <a:ext cx="1371600" cy="1737360"/>
          </a:xfrm>
          <a:prstGeom prst="rect">
            <a:avLst/>
          </a:prstGeom>
          <a:solidFill>
            <a:srgbClr val="21262D"/>
          </a:solidFill>
          <a:ln/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366260" y="1783080"/>
            <a:ext cx="411480" cy="411480"/>
          </a:xfrm>
          <a:prstGeom prst="ellipse">
            <a:avLst/>
          </a:prstGeom>
          <a:solidFill>
            <a:srgbClr val="00D4AA"/>
          </a:solidFill>
          <a:ln/>
        </p:spPr>
      </p:sp>
      <p:sp>
        <p:nvSpPr>
          <p:cNvPr id="17" name="Text 15"/>
          <p:cNvSpPr/>
          <p:nvPr/>
        </p:nvSpPr>
        <p:spPr>
          <a:xfrm>
            <a:off x="4366260" y="17830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3886200" y="233172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Tune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3977640" y="2651760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In-place resume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XML editing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550408" y="1600200"/>
            <a:ext cx="1371600" cy="1737360"/>
          </a:xfrm>
          <a:prstGeom prst="rect">
            <a:avLst/>
          </a:prstGeom>
          <a:solidFill>
            <a:srgbClr val="21262D"/>
          </a:solidFill>
          <a:ln/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030468" y="1783080"/>
            <a:ext cx="411480" cy="411480"/>
          </a:xfrm>
          <a:prstGeom prst="ellipse">
            <a:avLst/>
          </a:prstGeom>
          <a:solidFill>
            <a:srgbClr val="00D4AA"/>
          </a:solidFill>
          <a:ln/>
        </p:spPr>
      </p:sp>
      <p:sp>
        <p:nvSpPr>
          <p:cNvPr id="22" name="Text 20"/>
          <p:cNvSpPr/>
          <p:nvPr/>
        </p:nvSpPr>
        <p:spPr>
          <a:xfrm>
            <a:off x="6030468" y="17830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5550408" y="233172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Upskill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5641848" y="2651760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Multi-modal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hubs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7214616" y="1600200"/>
            <a:ext cx="1371600" cy="1737360"/>
          </a:xfrm>
          <a:prstGeom prst="rect">
            <a:avLst/>
          </a:prstGeom>
          <a:solidFill>
            <a:srgbClr val="21262D"/>
          </a:solidFill>
          <a:ln/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7694676" y="1783080"/>
            <a:ext cx="411480" cy="411480"/>
          </a:xfrm>
          <a:prstGeom prst="ellipse">
            <a:avLst/>
          </a:prstGeom>
          <a:solidFill>
            <a:srgbClr val="00D4AA"/>
          </a:solidFill>
          <a:ln/>
        </p:spPr>
      </p:sp>
      <p:sp>
        <p:nvSpPr>
          <p:cNvPr id="27" name="Text 25"/>
          <p:cNvSpPr/>
          <p:nvPr/>
        </p:nvSpPr>
        <p:spPr>
          <a:xfrm>
            <a:off x="7694676" y="17830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7214616" y="233172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7306056" y="2651760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Auto-scaffolded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repos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548640" y="3749040"/>
            <a:ext cx="8046720" cy="100584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31" name="Text 29"/>
          <p:cNvSpPr/>
          <p:nvPr/>
        </p:nvSpPr>
        <p:spPr>
          <a:xfrm>
            <a:off x="548640" y="3749040"/>
            <a:ext cx="8046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0D4AA"/>
                </a:solidFill>
              </a:rPr>
              <a:t>$0 </a:t>
            </a:r>
            <a:pPr algn="ctr" indent="0" marL="0">
              <a:buNone/>
            </a:pPr>
            <a:r>
              <a:rPr lang="en-US" sz="1400" dirty="0">
                <a:solidFill>
                  <a:srgbClr val="8B949E"/>
                </a:solidFill>
              </a:rPr>
              <a:t>operational cost  </a:t>
            </a:r>
            <a:pPr algn="ctr" indent="0" marL="0">
              <a:buNone/>
            </a:pPr>
            <a:r>
              <a:rPr lang="en-US" sz="1400" dirty="0">
                <a:solidFill>
                  <a:srgbClr val="30363D"/>
                </a:solidFill>
              </a:rPr>
              <a:t>   |   </a:t>
            </a:r>
            <a:pPr algn="ctr" indent="0" marL="0">
              <a:buNone/>
            </a:pPr>
            <a:r>
              <a:rPr lang="en-US" sz="2800" b="1" dirty="0">
                <a:solidFill>
                  <a:srgbClr val="00D4AA"/>
                </a:solidFill>
              </a:rPr>
              <a:t>100% </a:t>
            </a:r>
            <a:pPr algn="ctr" indent="0" marL="0">
              <a:buNone/>
            </a:pPr>
            <a:r>
              <a:rPr lang="en-US" sz="1400" dirty="0">
                <a:solidFill>
                  <a:srgbClr val="8B949E"/>
                </a:solidFill>
              </a:rPr>
              <a:t>cloud uptime  </a:t>
            </a:r>
            <a:pPr algn="ctr" indent="0" marL="0">
              <a:buNone/>
            </a:pPr>
            <a:r>
              <a:rPr lang="en-US" sz="1400" dirty="0">
                <a:solidFill>
                  <a:srgbClr val="30363D"/>
                </a:solidFill>
              </a:rPr>
              <a:t>   |   </a:t>
            </a:r>
            <a:pPr algn="ctr" indent="0" marL="0">
              <a:buNone/>
            </a:pPr>
            <a:r>
              <a:rPr lang="en-US" sz="2800" b="1" dirty="0">
                <a:solidFill>
                  <a:srgbClr val="00D4AA"/>
                </a:solidFill>
              </a:rPr>
              <a:t>5 </a:t>
            </a:r>
            <a:pPr algn="ctr" indent="0" marL="0">
              <a:buNone/>
            </a:pPr>
            <a:r>
              <a:rPr lang="en-US" sz="1400" dirty="0">
                <a:solidFill>
                  <a:srgbClr val="8B949E"/>
                </a:solidFill>
              </a:rPr>
              <a:t>autonomous agents</a:t>
            </a:r>
            <a:endParaRPr lang="en-US" sz="2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2004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5 Core Agents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005840"/>
            <a:ext cx="8046720" cy="658368"/>
          </a:xfrm>
          <a:prstGeom prst="rect">
            <a:avLst/>
          </a:prstGeom>
          <a:solidFill>
            <a:srgbClr val="21262D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005840"/>
            <a:ext cx="54864" cy="658368"/>
          </a:xfrm>
          <a:prstGeom prst="rect">
            <a:avLst/>
          </a:prstGeom>
          <a:solidFill>
            <a:srgbClr val="00D4A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115568"/>
            <a:ext cx="411480" cy="4114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17320" y="1042416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 Scanner &amp; Resume Tuner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1417320" y="1298448"/>
            <a:ext cx="6949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Aggregates postings via managed crawlers, extracts frequency-weighted themes, updates resume in-place preserving typography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548640" y="1783080"/>
            <a:ext cx="8046720" cy="658368"/>
          </a:xfrm>
          <a:prstGeom prst="rect">
            <a:avLst/>
          </a:prstGeom>
          <a:solidFill>
            <a:srgbClr val="21262D"/>
          </a:solidFill>
          <a:ln/>
        </p:spPr>
      </p:sp>
      <p:sp>
        <p:nvSpPr>
          <p:cNvPr id="10" name="Shape 7"/>
          <p:cNvSpPr/>
          <p:nvPr/>
        </p:nvSpPr>
        <p:spPr>
          <a:xfrm>
            <a:off x="548640" y="1783080"/>
            <a:ext cx="54864" cy="658368"/>
          </a:xfrm>
          <a:prstGeom prst="rect">
            <a:avLst/>
          </a:prstGeom>
          <a:solidFill>
            <a:srgbClr val="00D4AA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892808"/>
            <a:ext cx="411480" cy="41148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417320" y="1819656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Opportunity Watchdog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1417320" y="2075688"/>
            <a:ext cx="6949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Bypasses aggregators to parse Greenhouse &amp; Lever ATS endpoints of target companies, flagging stealth postings instantly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548640" y="2560320"/>
            <a:ext cx="8046720" cy="658368"/>
          </a:xfrm>
          <a:prstGeom prst="rect">
            <a:avLst/>
          </a:prstGeom>
          <a:solidFill>
            <a:srgbClr val="21262D"/>
          </a:solidFill>
          <a:ln/>
        </p:spPr>
      </p:sp>
      <p:sp>
        <p:nvSpPr>
          <p:cNvPr id="15" name="Shape 11"/>
          <p:cNvSpPr/>
          <p:nvPr/>
        </p:nvSpPr>
        <p:spPr>
          <a:xfrm>
            <a:off x="548640" y="2560320"/>
            <a:ext cx="54864" cy="658368"/>
          </a:xfrm>
          <a:prstGeom prst="rect">
            <a:avLst/>
          </a:prstGeom>
          <a:solidFill>
            <a:srgbClr val="00D4AA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2670048"/>
            <a:ext cx="411480" cy="41148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417320" y="2596896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Tutor</a:t>
            </a:r>
            <a:endParaRPr lang="en-US" sz="1300" dirty="0"/>
          </a:p>
        </p:txBody>
      </p:sp>
      <p:sp>
        <p:nvSpPr>
          <p:cNvPr id="18" name="Text 13"/>
          <p:cNvSpPr/>
          <p:nvPr/>
        </p:nvSpPr>
        <p:spPr>
          <a:xfrm>
            <a:off x="1417320" y="2852928"/>
            <a:ext cx="6949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Evaluates trending skills, retrieves arXiv papers &amp; GitHub repos, creates NotebookLM workspaces, generates audio podcasts &amp; study plans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548640" y="3337560"/>
            <a:ext cx="8046720" cy="658368"/>
          </a:xfrm>
          <a:prstGeom prst="rect">
            <a:avLst/>
          </a:prstGeom>
          <a:solidFill>
            <a:srgbClr val="21262D"/>
          </a:solidFill>
          <a:ln/>
        </p:spPr>
      </p:sp>
      <p:sp>
        <p:nvSpPr>
          <p:cNvPr id="20" name="Shape 15"/>
          <p:cNvSpPr/>
          <p:nvPr/>
        </p:nvSpPr>
        <p:spPr>
          <a:xfrm>
            <a:off x="548640" y="3337560"/>
            <a:ext cx="54864" cy="658368"/>
          </a:xfrm>
          <a:prstGeom prst="rect">
            <a:avLst/>
          </a:prstGeom>
          <a:solidFill>
            <a:srgbClr val="00D4AA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" y="3447288"/>
            <a:ext cx="411480" cy="41148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417320" y="3374136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Mock Interviewer</a:t>
            </a:r>
            <a:endParaRPr lang="en-US" sz="1300" dirty="0"/>
          </a:p>
        </p:txBody>
      </p:sp>
      <p:sp>
        <p:nvSpPr>
          <p:cNvPr id="23" name="Text 17"/>
          <p:cNvSpPr/>
          <p:nvPr/>
        </p:nvSpPr>
        <p:spPr>
          <a:xfrm>
            <a:off x="1417320" y="3630168"/>
            <a:ext cx="6949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Designs situational, coding &amp; system-architecture questions, executes dry runs, logs scorecards with readiness ratings</a:t>
            </a:r>
            <a:endParaRPr lang="en-US" sz="1050" dirty="0"/>
          </a:p>
        </p:txBody>
      </p:sp>
      <p:sp>
        <p:nvSpPr>
          <p:cNvPr id="24" name="Shape 18"/>
          <p:cNvSpPr/>
          <p:nvPr/>
        </p:nvSpPr>
        <p:spPr>
          <a:xfrm>
            <a:off x="548640" y="4114800"/>
            <a:ext cx="8046720" cy="658368"/>
          </a:xfrm>
          <a:prstGeom prst="rect">
            <a:avLst/>
          </a:prstGeom>
          <a:solidFill>
            <a:srgbClr val="21262D"/>
          </a:solidFill>
          <a:ln/>
        </p:spPr>
      </p:sp>
      <p:sp>
        <p:nvSpPr>
          <p:cNvPr id="25" name="Shape 19"/>
          <p:cNvSpPr/>
          <p:nvPr/>
        </p:nvSpPr>
        <p:spPr>
          <a:xfrm>
            <a:off x="548640" y="4114800"/>
            <a:ext cx="54864" cy="658368"/>
          </a:xfrm>
          <a:prstGeom prst="rect">
            <a:avLst/>
          </a:prstGeom>
          <a:solidFill>
            <a:srgbClr val="00D4AA"/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2960" y="4224528"/>
            <a:ext cx="411480" cy="411480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1417320" y="4151376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 Architect</a:t>
            </a:r>
            <a:endParaRPr lang="en-US" sz="1300" dirty="0"/>
          </a:p>
        </p:txBody>
      </p:sp>
      <p:sp>
        <p:nvSpPr>
          <p:cNvPr id="28" name="Text 21"/>
          <p:cNvSpPr/>
          <p:nvPr/>
        </p:nvSpPr>
        <p:spPr>
          <a:xfrm>
            <a:off x="1417320" y="4407408"/>
            <a:ext cx="6949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Scaffolds proof-of-work repos with READMEs, tests, CI pipelines, and publishes directly to GitHub as visible expertise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286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Unified Agentic Workflow &amp; Architecture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68580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Actions Cron triggers 5 autonomous agents coordinating via SQLite persistence (themes.db) with Dropbox round-trip sync.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291840" y="1097280"/>
            <a:ext cx="2560320" cy="457200"/>
          </a:xfrm>
          <a:prstGeom prst="rect">
            <a:avLst/>
          </a:prstGeom>
          <a:solidFill>
            <a:srgbClr val="1A3A5C"/>
          </a:solidFill>
          <a:ln/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291840" y="109728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GitHub Actions Cron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20040" y="1874520"/>
            <a:ext cx="1508760" cy="640080"/>
          </a:xfrm>
          <a:prstGeom prst="rect">
            <a:avLst/>
          </a:prstGeom>
          <a:solidFill>
            <a:srgbClr val="3B1566"/>
          </a:solidFill>
          <a:ln/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20040" y="1874520"/>
            <a:ext cx="1508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 Scanner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Resume Tuner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011680" y="1874520"/>
            <a:ext cx="1508760" cy="640080"/>
          </a:xfrm>
          <a:prstGeom prst="rect">
            <a:avLst/>
          </a:prstGeom>
          <a:solidFill>
            <a:srgbClr val="3B1566"/>
          </a:solidFill>
          <a:ln/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011680" y="1874520"/>
            <a:ext cx="1508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Opportunity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Watchdog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703320" y="1874520"/>
            <a:ext cx="1508760" cy="640080"/>
          </a:xfrm>
          <a:prstGeom prst="rect">
            <a:avLst/>
          </a:prstGeom>
          <a:solidFill>
            <a:srgbClr val="3B1566"/>
          </a:solidFill>
          <a:ln/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703320" y="1874520"/>
            <a:ext cx="1508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Tutor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5394960" y="1874520"/>
            <a:ext cx="1508760" cy="640080"/>
          </a:xfrm>
          <a:prstGeom prst="rect">
            <a:avLst/>
          </a:prstGeom>
          <a:solidFill>
            <a:srgbClr val="3B1566"/>
          </a:solidFill>
          <a:ln/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394960" y="1874520"/>
            <a:ext cx="1508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Mock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Interviewer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7086600" y="1874520"/>
            <a:ext cx="1508760" cy="640080"/>
          </a:xfrm>
          <a:prstGeom prst="rect">
            <a:avLst/>
          </a:prstGeom>
          <a:solidFill>
            <a:srgbClr val="3B1566"/>
          </a:solidFill>
          <a:ln/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7086600" y="1874520"/>
            <a:ext cx="1508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320040" y="2834640"/>
            <a:ext cx="1508760" cy="548640"/>
          </a:xfrm>
          <a:prstGeom prst="rect">
            <a:avLst/>
          </a:prstGeom>
          <a:solidFill>
            <a:srgbClr val="1B5E20"/>
          </a:solidFill>
          <a:ln/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320040" y="2834640"/>
            <a:ext cx="1508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Apify Scraper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2011680" y="2834640"/>
            <a:ext cx="1508760" cy="548640"/>
          </a:xfrm>
          <a:prstGeom prst="rect">
            <a:avLst/>
          </a:prstGeom>
          <a:solidFill>
            <a:srgbClr val="1B5E20"/>
          </a:solidFill>
          <a:ln/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2011680" y="2834640"/>
            <a:ext cx="1508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Greenhouse &amp;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Lever ATS APIs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703320" y="2834640"/>
            <a:ext cx="1508760" cy="548640"/>
          </a:xfrm>
          <a:prstGeom prst="rect">
            <a:avLst/>
          </a:prstGeom>
          <a:solidFill>
            <a:srgbClr val="1B5E20"/>
          </a:solidFill>
          <a:ln/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703320" y="2834640"/>
            <a:ext cx="1508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arXiv &amp; GitHub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APIs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5394960" y="2834640"/>
            <a:ext cx="1508760" cy="548640"/>
          </a:xfrm>
          <a:prstGeom prst="rect">
            <a:avLst/>
          </a:prstGeom>
          <a:solidFill>
            <a:srgbClr val="1B5E20"/>
          </a:solidFill>
          <a:ln/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394960" y="2834640"/>
            <a:ext cx="1508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NotebookLM /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API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7086600" y="2834640"/>
            <a:ext cx="1508760" cy="548640"/>
          </a:xfrm>
          <a:prstGeom prst="rect">
            <a:avLst/>
          </a:prstGeom>
          <a:solidFill>
            <a:srgbClr val="0D47A1"/>
          </a:solidFill>
          <a:ln/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7086600" y="2834640"/>
            <a:ext cx="1508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 DB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(themes.db)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320040" y="3749040"/>
            <a:ext cx="1508760" cy="502920"/>
          </a:xfrm>
          <a:prstGeom prst="rect">
            <a:avLst/>
          </a:prstGeom>
          <a:solidFill>
            <a:srgbClr val="BF360C"/>
          </a:solidFill>
          <a:ln/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320040" y="3749040"/>
            <a:ext cx="1508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Tailored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Resume .docx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2011680" y="3749040"/>
            <a:ext cx="1508760" cy="502920"/>
          </a:xfrm>
          <a:prstGeom prst="rect">
            <a:avLst/>
          </a:prstGeom>
          <a:solidFill>
            <a:srgbClr val="BF360C"/>
          </a:solidFill>
          <a:ln/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2011680" y="3749040"/>
            <a:ext cx="1508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Notifications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3703320" y="3749040"/>
            <a:ext cx="1508760" cy="502920"/>
          </a:xfrm>
          <a:prstGeom prst="rect">
            <a:avLst/>
          </a:prstGeom>
          <a:solidFill>
            <a:srgbClr val="BF360C"/>
          </a:solidFill>
          <a:ln/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703320" y="3749040"/>
            <a:ext cx="1508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SMTP Study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Email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5394960" y="3749040"/>
            <a:ext cx="1508760" cy="502920"/>
          </a:xfrm>
          <a:prstGeom prst="rect">
            <a:avLst/>
          </a:prstGeom>
          <a:solidFill>
            <a:srgbClr val="BF360C"/>
          </a:solidFill>
          <a:ln/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5394960" y="3749040"/>
            <a:ext cx="1508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Markdown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Scorecards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7086600" y="3749040"/>
            <a:ext cx="1508760" cy="502920"/>
          </a:xfrm>
          <a:prstGeom prst="rect">
            <a:avLst/>
          </a:prstGeom>
          <a:solidFill>
            <a:srgbClr val="BF360C"/>
          </a:solidFill>
          <a:ln/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7086600" y="3749040"/>
            <a:ext cx="1508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Repositories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320040" y="4434840"/>
            <a:ext cx="2286000" cy="411480"/>
          </a:xfrm>
          <a:prstGeom prst="rect">
            <a:avLst/>
          </a:prstGeom>
          <a:solidFill>
            <a:srgbClr val="0D47A1"/>
          </a:solidFill>
          <a:ln/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38" name="Text 36"/>
          <p:cNvSpPr/>
          <p:nvPr/>
        </p:nvSpPr>
        <p:spPr>
          <a:xfrm>
            <a:off x="320040" y="443484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Dropbox Storage (Round-Trip Sync)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5029200" y="4498848"/>
            <a:ext cx="182880" cy="182880"/>
          </a:xfrm>
          <a:prstGeom prst="rect">
            <a:avLst/>
          </a:prstGeom>
          <a:solidFill>
            <a:srgbClr val="3B1566"/>
          </a:solidFill>
          <a:ln/>
        </p:spPr>
      </p:sp>
      <p:sp>
        <p:nvSpPr>
          <p:cNvPr id="40" name="Text 38"/>
          <p:cNvSpPr/>
          <p:nvPr/>
        </p:nvSpPr>
        <p:spPr>
          <a:xfrm>
            <a:off x="5257800" y="4462272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6126480" y="4498848"/>
            <a:ext cx="182880" cy="182880"/>
          </a:xfrm>
          <a:prstGeom prst="rect">
            <a:avLst/>
          </a:prstGeom>
          <a:solidFill>
            <a:srgbClr val="1B5E20"/>
          </a:solidFill>
          <a:ln/>
        </p:spPr>
      </p:sp>
      <p:sp>
        <p:nvSpPr>
          <p:cNvPr id="42" name="Text 40"/>
          <p:cNvSpPr/>
          <p:nvPr/>
        </p:nvSpPr>
        <p:spPr>
          <a:xfrm>
            <a:off x="6355080" y="4462272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Services</a:t>
            </a:r>
            <a:endParaRPr lang="en-US" sz="800" dirty="0"/>
          </a:p>
        </p:txBody>
      </p:sp>
      <p:sp>
        <p:nvSpPr>
          <p:cNvPr id="43" name="Shape 41"/>
          <p:cNvSpPr/>
          <p:nvPr/>
        </p:nvSpPr>
        <p:spPr>
          <a:xfrm>
            <a:off x="7223760" y="4498848"/>
            <a:ext cx="182880" cy="182880"/>
          </a:xfrm>
          <a:prstGeom prst="rect">
            <a:avLst/>
          </a:prstGeom>
          <a:solidFill>
            <a:srgbClr val="0D47A1"/>
          </a:solidFill>
          <a:ln/>
        </p:spPr>
      </p:sp>
      <p:sp>
        <p:nvSpPr>
          <p:cNvPr id="44" name="Text 42"/>
          <p:cNvSpPr/>
          <p:nvPr/>
        </p:nvSpPr>
        <p:spPr>
          <a:xfrm>
            <a:off x="7452360" y="4462272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</a:t>
            </a:r>
            <a:endParaRPr lang="en-US" sz="800" dirty="0"/>
          </a:p>
        </p:txBody>
      </p:sp>
      <p:sp>
        <p:nvSpPr>
          <p:cNvPr id="45" name="Shape 43"/>
          <p:cNvSpPr/>
          <p:nvPr/>
        </p:nvSpPr>
        <p:spPr>
          <a:xfrm>
            <a:off x="8321040" y="4498848"/>
            <a:ext cx="182880" cy="182880"/>
          </a:xfrm>
          <a:prstGeom prst="rect">
            <a:avLst/>
          </a:prstGeom>
          <a:solidFill>
            <a:srgbClr val="BF360C"/>
          </a:solidFill>
          <a:ln/>
        </p:spPr>
      </p:sp>
      <p:sp>
        <p:nvSpPr>
          <p:cNvPr id="46" name="Text 44"/>
          <p:cNvSpPr/>
          <p:nvPr/>
        </p:nvSpPr>
        <p:spPr>
          <a:xfrm>
            <a:off x="8549640" y="4462272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Deliverables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2004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Engineering Trade-Off Matrix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82296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Quantified comparison across three architectural options evaluated during design.</a:t>
            </a:r>
            <a:endParaRPr lang="en-US" sz="12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80160"/>
          <a:ext cx="804672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2011680"/>
                <a:gridCol w="2011680"/>
                <a:gridCol w="2011680"/>
              </a:tblGrid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00D4A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Vector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00D4A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Custom SDK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00D4A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OpenClaw Local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4ADE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Hybrid Engine ✓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0F6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Execution Reliability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62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0F6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Moderate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62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0F6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62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4ADE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3320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0F6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Scraping Viability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0F6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0F6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4ADE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3320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0F6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 Flexibility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62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0F6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62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0F6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Moderate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62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4ADE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3320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0F6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Deliverable Fidelity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0F6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0F6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4ADE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3320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0F6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State Persistence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62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0F6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62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0F6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62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4ADE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3320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0F6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Infrastructure Cost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0F6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Variable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0F6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Free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4ADE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Free Tier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332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200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Closed-Loop Upskilling Engine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097280"/>
            <a:ext cx="3886200" cy="1691640"/>
          </a:xfrm>
          <a:prstGeom prst="rect">
            <a:avLst/>
          </a:prstGeom>
          <a:solidFill>
            <a:srgbClr val="21262D"/>
          </a:solidFill>
          <a:ln/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325880"/>
            <a:ext cx="365760" cy="3657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280160" y="128016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Relational Trend Persistence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777240" y="1737360"/>
            <a:ext cx="3474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 tables capture historical state across trending topics, notebooks, opportunities, interviews, and portfolio projects for longitudinal analytics.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4709160" y="1097280"/>
            <a:ext cx="3886200" cy="1691640"/>
          </a:xfrm>
          <a:prstGeom prst="rect">
            <a:avLst/>
          </a:prstGeom>
          <a:solidFill>
            <a:srgbClr val="21262D"/>
          </a:solidFill>
          <a:ln/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7760" y="1325880"/>
            <a:ext cx="365760" cy="36576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440680" y="128016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Intelligent Deduplication</a:t>
            </a:r>
            <a:endParaRPr lang="en-US" sz="1300" dirty="0"/>
          </a:p>
        </p:txBody>
      </p:sp>
      <p:sp>
        <p:nvSpPr>
          <p:cNvPr id="11" name="Text 7"/>
          <p:cNvSpPr/>
          <p:nvPr/>
        </p:nvSpPr>
        <p:spPr>
          <a:xfrm>
            <a:off x="4937760" y="1737360"/>
            <a:ext cx="3474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key normalization prevents redundant API calls. Agents query SQLite registers before executing expensive integrations, protecting token budgets.</a:t>
            </a:r>
            <a:endParaRPr lang="en-US" sz="1050" dirty="0"/>
          </a:p>
        </p:txBody>
      </p:sp>
      <p:sp>
        <p:nvSpPr>
          <p:cNvPr id="12" name="Shape 8"/>
          <p:cNvSpPr/>
          <p:nvPr/>
        </p:nvSpPr>
        <p:spPr>
          <a:xfrm>
            <a:off x="548640" y="2971800"/>
            <a:ext cx="3886200" cy="1691640"/>
          </a:xfrm>
          <a:prstGeom prst="rect">
            <a:avLst/>
          </a:prstGeom>
          <a:solidFill>
            <a:srgbClr val="21262D"/>
          </a:solidFill>
          <a:ln/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3200400"/>
            <a:ext cx="365760" cy="36576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280160" y="315468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Multi-Source Learning Hub</a:t>
            </a:r>
            <a:endParaRPr lang="en-US" sz="1300" dirty="0"/>
          </a:p>
        </p:txBody>
      </p:sp>
      <p:sp>
        <p:nvSpPr>
          <p:cNvPr id="15" name="Text 10"/>
          <p:cNvSpPr/>
          <p:nvPr/>
        </p:nvSpPr>
        <p:spPr>
          <a:xfrm>
            <a:off x="777240" y="3611880"/>
            <a:ext cx="3474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arXiv papers + GitHub repos compiled into NotebookLM workspaces. Generates audio podcasts, visual mindmaps, and structured weekly study plans.</a:t>
            </a:r>
            <a:endParaRPr lang="en-US" sz="1050" dirty="0"/>
          </a:p>
        </p:txBody>
      </p:sp>
      <p:sp>
        <p:nvSpPr>
          <p:cNvPr id="16" name="Shape 11"/>
          <p:cNvSpPr/>
          <p:nvPr/>
        </p:nvSpPr>
        <p:spPr>
          <a:xfrm>
            <a:off x="4709160" y="2971800"/>
            <a:ext cx="3886200" cy="1691640"/>
          </a:xfrm>
          <a:prstGeom prst="rect">
            <a:avLst/>
          </a:prstGeom>
          <a:solidFill>
            <a:srgbClr val="21262D"/>
          </a:solidFill>
          <a:ln/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37760" y="3200400"/>
            <a:ext cx="365760" cy="36576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5440680" y="315468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Proof-of-Work Scaffolding</a:t>
            </a:r>
            <a:endParaRPr lang="en-US" sz="1300" dirty="0"/>
          </a:p>
        </p:txBody>
      </p:sp>
      <p:sp>
        <p:nvSpPr>
          <p:cNvPr id="19" name="Text 13"/>
          <p:cNvSpPr/>
          <p:nvPr/>
        </p:nvSpPr>
        <p:spPr>
          <a:xfrm>
            <a:off x="4937760" y="3611880"/>
            <a:ext cx="3474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Auto-generates project repos with source code, unit tests, GitHub Actions CI, premium READMEs, and commits directly to GitHub as visible expertise.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200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Agentic AI PM Competency Map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82296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this project maps to the core competencies expected of an Agentic AI Product Manager.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325880"/>
            <a:ext cx="6949440" cy="749808"/>
          </a:xfrm>
          <a:prstGeom prst="rect">
            <a:avLst/>
          </a:prstGeom>
          <a:solidFill>
            <a:srgbClr val="21262D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1325880"/>
            <a:ext cx="54864" cy="749808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1380744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Fluency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22960" y="1655064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OAuth2 token-refresh cycles, SQL relational design, GitHub Actions CI injection, XML document tree parsing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7680960" y="1325880"/>
            <a:ext cx="914400" cy="749808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10" name="Text 8"/>
          <p:cNvSpPr/>
          <p:nvPr/>
        </p:nvSpPr>
        <p:spPr>
          <a:xfrm>
            <a:off x="7680960" y="1380744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D4A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6+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7680960" y="176479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 APIs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548640" y="2221992"/>
            <a:ext cx="6949440" cy="749808"/>
          </a:xfrm>
          <a:prstGeom prst="rect">
            <a:avLst/>
          </a:prstGeom>
          <a:solidFill>
            <a:srgbClr val="21262D"/>
          </a:solidFill>
          <a:ln/>
        </p:spPr>
      </p:sp>
      <p:sp>
        <p:nvSpPr>
          <p:cNvPr id="13" name="Shape 11"/>
          <p:cNvSpPr/>
          <p:nvPr/>
        </p:nvSpPr>
        <p:spPr>
          <a:xfrm>
            <a:off x="548640" y="2221992"/>
            <a:ext cx="54864" cy="749808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14" name="Text 12"/>
          <p:cNvSpPr/>
          <p:nvPr/>
        </p:nvSpPr>
        <p:spPr>
          <a:xfrm>
            <a:off x="822960" y="22768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Design &amp; Orchestration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22960" y="2551176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Multi-stage pipeline (Ingest → Analyze → Generate → Deliver), error handling, failover mocks, config-driven model factory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7680960" y="2221992"/>
            <a:ext cx="914400" cy="749808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17" name="Text 15"/>
          <p:cNvSpPr/>
          <p:nvPr/>
        </p:nvSpPr>
        <p:spPr>
          <a:xfrm>
            <a:off x="7680960" y="2276856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D4A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7680960" y="2660904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pipeline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548640" y="3118104"/>
            <a:ext cx="6949440" cy="749808"/>
          </a:xfrm>
          <a:prstGeom prst="rect">
            <a:avLst/>
          </a:prstGeom>
          <a:solidFill>
            <a:srgbClr val="21262D"/>
          </a:solidFill>
          <a:ln/>
        </p:spPr>
      </p:sp>
      <p:sp>
        <p:nvSpPr>
          <p:cNvPr id="20" name="Shape 18"/>
          <p:cNvSpPr/>
          <p:nvPr/>
        </p:nvSpPr>
        <p:spPr>
          <a:xfrm>
            <a:off x="548640" y="3118104"/>
            <a:ext cx="54864" cy="749808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21" name="Text 19"/>
          <p:cNvSpPr/>
          <p:nvPr/>
        </p:nvSpPr>
        <p:spPr>
          <a:xfrm>
            <a:off x="822960" y="317296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Commercial Savviness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822960" y="3447288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Free-tier integrations (Apify, Dropbox, GHA, Google AI Studio) delivering production-grade output at zero operational cost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7680960" y="3118104"/>
            <a:ext cx="914400" cy="749808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24" name="Text 22"/>
          <p:cNvSpPr/>
          <p:nvPr/>
        </p:nvSpPr>
        <p:spPr>
          <a:xfrm>
            <a:off x="7680960" y="3172968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D4A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$0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7680960" y="3557016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 cost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548640" y="4014216"/>
            <a:ext cx="6949440" cy="749808"/>
          </a:xfrm>
          <a:prstGeom prst="rect">
            <a:avLst/>
          </a:prstGeom>
          <a:solidFill>
            <a:srgbClr val="21262D"/>
          </a:solidFill>
          <a:ln/>
        </p:spPr>
      </p:sp>
      <p:sp>
        <p:nvSpPr>
          <p:cNvPr id="27" name="Shape 25"/>
          <p:cNvSpPr/>
          <p:nvPr/>
        </p:nvSpPr>
        <p:spPr>
          <a:xfrm>
            <a:off x="548640" y="4014216"/>
            <a:ext cx="54864" cy="749808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28" name="Text 26"/>
          <p:cNvSpPr/>
          <p:nvPr/>
        </p:nvSpPr>
        <p:spPr>
          <a:xfrm>
            <a:off x="822960" y="406908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Vision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822960" y="434340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Self-improvement loop using NotebookLM, automated GitHub scaffolding, adaptive interview coaching, and real-time skill-gap analysis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7680960" y="4014216"/>
            <a:ext cx="914400" cy="749808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31" name="Text 29"/>
          <p:cNvSpPr/>
          <p:nvPr/>
        </p:nvSpPr>
        <p:spPr>
          <a:xfrm>
            <a:off x="7680960" y="406908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D4A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∞</a:t>
            </a:r>
            <a:endParaRPr lang="en-US" sz="2200" dirty="0"/>
          </a:p>
        </p:txBody>
      </p:sp>
      <p:sp>
        <p:nvSpPr>
          <p:cNvPr id="32" name="Text 30"/>
          <p:cNvSpPr/>
          <p:nvPr/>
        </p:nvSpPr>
        <p:spPr>
          <a:xfrm>
            <a:off x="7680960" y="445312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loop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91440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This is not a side project.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D4A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It is the product itself.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2423160"/>
            <a:ext cx="2286000" cy="36576"/>
          </a:xfrm>
          <a:prstGeom prst="rect">
            <a:avLst/>
          </a:prstGeom>
          <a:solidFill>
            <a:srgbClr val="30363D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269748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Agentic AI Product Manager who builds a multi-agent career optimization engine isn't just telling you about agentic systems—they're shipping one.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3703320"/>
            <a:ext cx="2560320" cy="1097280"/>
          </a:xfrm>
          <a:prstGeom prst="rect">
            <a:avLst/>
          </a:prstGeom>
          <a:solidFill>
            <a:srgbClr val="21262D"/>
          </a:solidFill>
          <a:ln/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31520" y="379476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D4A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731520" y="411480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Depth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31520" y="438912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Production-grade multi-agent orchestration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383280" y="3703320"/>
            <a:ext cx="2560320" cy="1097280"/>
          </a:xfrm>
          <a:prstGeom prst="rect">
            <a:avLst/>
          </a:prstGeom>
          <a:solidFill>
            <a:srgbClr val="21262D"/>
          </a:solidFill>
          <a:ln/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566160" y="379476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D4A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3566160" y="411480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Commercial Judgment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566160" y="438912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$0 cost, free-tier infrastructure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217920" y="3703320"/>
            <a:ext cx="2560320" cy="1097280"/>
          </a:xfrm>
          <a:prstGeom prst="rect">
            <a:avLst/>
          </a:prstGeom>
          <a:solidFill>
            <a:srgbClr val="21262D"/>
          </a:solidFill>
          <a:ln/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400800" y="379476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D4A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6400800" y="411480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Pragmatism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400800" y="438912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Ships real value, not prototypes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Career Intelligence Engine – Agentic AI PM Portfolio</dc:title>
  <dc:subject>PptxGenJS Presentation</dc:subject>
  <dc:creator>Mayukh</dc:creator>
  <cp:lastModifiedBy>Mayukh</cp:lastModifiedBy>
  <cp:revision>1</cp:revision>
  <dcterms:created xsi:type="dcterms:W3CDTF">2026-05-20T11:29:47Z</dcterms:created>
  <dcterms:modified xsi:type="dcterms:W3CDTF">2026-05-20T11:29:47Z</dcterms:modified>
</cp:coreProperties>
</file>